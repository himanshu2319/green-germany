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983480" y="685800"/>
            <a:ext cx="2194560" cy="27432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83480" y="960120"/>
            <a:ext cx="2194560" cy="274320"/>
          </a:xfrm>
          <a:prstGeom prst="rect">
            <a:avLst/>
          </a:prstGeom>
          <a:solidFill>
            <a:srgbClr val="D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83480" y="1234440"/>
            <a:ext cx="2194560" cy="274320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5F7F4"/>
                </a:solidFill>
                <a:latin typeface="Aptos"/>
              </a:rPr>
              <a:t>Green Germany 🇩🇪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4612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0">
                <a:solidFill>
                  <a:srgbClr val="AFB6B1"/>
                </a:solidFill>
                <a:latin typeface="Aptos"/>
              </a:rPr>
              <a:t>Recycling • Public Transport • Sustainable Living • German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572000"/>
            <a:ext cx="7589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CE00"/>
                </a:solidFill>
                <a:latin typeface="Aptos"/>
              </a:rPr>
              <a:t>♻️  🚆  🚲  🌱  🇩🇪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8064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FB6B1"/>
                </a:solidFill>
                <a:latin typeface="Aptos"/>
              </a:rPr>
              <a:t>Made by Himanshu Chauhan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CE00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5F7F4"/>
                </a:solidFill>
                <a:latin typeface="Aptos"/>
              </a:rPr>
              <a:t>What Does “Green Germany” Mean?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1143000"/>
            <a:ext cx="594360" cy="54864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55448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Sustainability is connected with everyday choices, public infrastructure and long-term planning.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95728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95728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People can reduce waste through sorting, reuse, repair and responsible consumption.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36976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36976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Public transport and cycling provide alternatives to private cars in many cities.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078224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078224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The German word “Nachhaltigkeit” means sustainability.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5715000"/>
            <a:ext cx="1645920" cy="207264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5922264"/>
            <a:ext cx="1645920" cy="207264"/>
          </a:xfrm>
          <a:prstGeom prst="rect">
            <a:avLst/>
          </a:prstGeom>
          <a:solidFill>
            <a:srgbClr val="D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9760" y="6129528"/>
            <a:ext cx="1645920" cy="207264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CE00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5F7F4"/>
                </a:solidFill>
                <a:latin typeface="Aptos"/>
              </a:rPr>
              <a:t>♻️ Recycling &amp; Waste Separation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1143000"/>
            <a:ext cx="594360" cy="54864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55448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Germany is well known for separating different types of household waste.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95728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95728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Paper and cardboard are commonly collected separately from residual waste.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36976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36976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Organic waste can be collected in bio-waste systems.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078224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078224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Packaging materials may be collected through systems such as the yellow-bin/yellow-bag system.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919472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919472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The goal is to recover useful materials and reduce unnecessary waste.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5715000"/>
            <a:ext cx="1645920" cy="207264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09760" y="5922264"/>
            <a:ext cx="1645920" cy="207264"/>
          </a:xfrm>
          <a:prstGeom prst="rect">
            <a:avLst/>
          </a:prstGeom>
          <a:solidFill>
            <a:srgbClr val="D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0" y="6129528"/>
            <a:ext cx="1645920" cy="207264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72D572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5F7F4"/>
                </a:solidFill>
                <a:latin typeface="Aptos"/>
              </a:rPr>
              <a:t>Pfand — Bottle Deposit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1143000"/>
            <a:ext cx="594360" cy="54864"/>
          </a:xfrm>
          <a:prstGeom prst="rect">
            <a:avLst/>
          </a:prstGeom>
          <a:solidFill>
            <a:srgbClr val="72D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55448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2D572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“Pfand” means a deposit paid on certain beverage containers.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95728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2D572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95728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Eligible bottles and cans can be returned through collection machines.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36976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2D572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36976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The deposit encourages people to return containers instead of throwing them away.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078224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2D572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078224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This system connects recycling with a simple everyday habit.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5715000"/>
            <a:ext cx="1645920" cy="207264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5922264"/>
            <a:ext cx="1645920" cy="207264"/>
          </a:xfrm>
          <a:prstGeom prst="rect">
            <a:avLst/>
          </a:prstGeom>
          <a:solidFill>
            <a:srgbClr val="D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9760" y="6129528"/>
            <a:ext cx="1645920" cy="207264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DD0000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5F7F4"/>
                </a:solidFill>
                <a:latin typeface="Aptos"/>
              </a:rPr>
              <a:t>🚆 Public Transport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1143000"/>
            <a:ext cx="594360" cy="54864"/>
          </a:xfrm>
          <a:prstGeom prst="rect">
            <a:avLst/>
          </a:prstGeom>
          <a:solidFill>
            <a:srgbClr val="D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55448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DD0000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U-Bahn and S-Bahn systems connect many urban and suburban areas.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95728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DD00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95728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Trams and buses provide local mobility within cities and towns.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36976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DD00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36976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Regional trains connect communities beyond city centres.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078224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DD00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078224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The Deutschlandticket provides access to local and regional public transport under its current conditions.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919472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DD00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919472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Good public transport can make low-car lifestyles easier.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5715000"/>
            <a:ext cx="1645920" cy="207264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09760" y="5922264"/>
            <a:ext cx="1645920" cy="207264"/>
          </a:xfrm>
          <a:prstGeom prst="rect">
            <a:avLst/>
          </a:prstGeom>
          <a:solidFill>
            <a:srgbClr val="D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0" y="6129528"/>
            <a:ext cx="1645920" cy="207264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72D572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5F7F4"/>
                </a:solidFill>
                <a:latin typeface="Aptos"/>
              </a:rPr>
              <a:t>🚲 Cycling &amp; Sustainable Mobility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1143000"/>
            <a:ext cx="594360" cy="54864"/>
          </a:xfrm>
          <a:prstGeom prst="rect">
            <a:avLst/>
          </a:prstGeom>
          <a:solidFill>
            <a:srgbClr val="72D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55448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2D572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Cycling can reduce emissions while also supporting healthy and active lifestyles.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95728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2D572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95728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Bike lanes, bicycle parking and connections with public transport support cycling.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36976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2D572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36976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Walking is another simple zero-emission way to travel short distances.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078224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2D572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078224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Sustainable mobility works best when different transport modes are connected.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5715000"/>
            <a:ext cx="1645920" cy="207264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5922264"/>
            <a:ext cx="1645920" cy="207264"/>
          </a:xfrm>
          <a:prstGeom prst="rect">
            <a:avLst/>
          </a:prstGeom>
          <a:solidFill>
            <a:srgbClr val="D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9760" y="6129528"/>
            <a:ext cx="1645920" cy="207264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72D572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5F7F4"/>
                </a:solidFill>
                <a:latin typeface="Aptos"/>
              </a:rPr>
              <a:t>🌱 Everyday Sustainable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1143000"/>
            <a:ext cx="594360" cy="54864"/>
          </a:xfrm>
          <a:prstGeom prst="rect">
            <a:avLst/>
          </a:prstGeom>
          <a:solidFill>
            <a:srgbClr val="72D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55448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2D572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Use reusable bottles, bags and containers where practical.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95728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2D572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95728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Repair or reuse products before replacing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36976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2D572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36976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Choose second-hand products when they meet your needs.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078224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2D572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078224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Save electricity by switching off unnecessary lights and devices.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919472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2D572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919472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Support local products and reduce avoidable packaging.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5715000"/>
            <a:ext cx="1645920" cy="207264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09760" y="5922264"/>
            <a:ext cx="1645920" cy="207264"/>
          </a:xfrm>
          <a:prstGeom prst="rect">
            <a:avLst/>
          </a:prstGeom>
          <a:solidFill>
            <a:srgbClr val="D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0" y="6129528"/>
            <a:ext cx="1645920" cy="207264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CE00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5F7F4"/>
                </a:solidFill>
                <a:latin typeface="Aptos"/>
              </a:rPr>
              <a:t>☀️ Renewable Energy &amp; Green Future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1143000"/>
            <a:ext cx="594360" cy="54864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55448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Germany has invested heavily in renewable energy such as wind and solar power.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95728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95728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Solar panels can be seen on homes, buildings and other sites.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36976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36976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Wind farms contribute to electricity generation.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078224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078224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The energy transition is a long-term process involving technology, policy and consumer choices.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5715000"/>
            <a:ext cx="1645920" cy="207264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5922264"/>
            <a:ext cx="1645920" cy="207264"/>
          </a:xfrm>
          <a:prstGeom prst="rect">
            <a:avLst/>
          </a:prstGeom>
          <a:solidFill>
            <a:srgbClr val="D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9760" y="6129528"/>
            <a:ext cx="1645920" cy="207264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CE00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5F7F4"/>
                </a:solidFill>
                <a:latin typeface="Aptos"/>
              </a:rPr>
              <a:t>🇩🇪 German Words for the Topic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1143000"/>
            <a:ext cx="594360" cy="54864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55448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Umwelt =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95728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95728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Recycling = Recycling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36976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36976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Nachhaltigkeit = Sustainability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078224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078224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Verkehr = Transport / Traffic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919472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919472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grün = green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76072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76072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Müll / Abfall = Waste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6601968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6601968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Fahrrad = Bicycle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5715000"/>
            <a:ext cx="1645920" cy="207264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5922264"/>
            <a:ext cx="1645920" cy="207264"/>
          </a:xfrm>
          <a:prstGeom prst="rect">
            <a:avLst/>
          </a:prstGeom>
          <a:solidFill>
            <a:srgbClr val="D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6129528"/>
            <a:ext cx="1645920" cy="207264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CE00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5F7F4"/>
                </a:solidFill>
                <a:latin typeface="Aptos"/>
              </a:rPr>
              <a:t>German Verb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1143000"/>
            <a:ext cx="594360" cy="54864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55448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machen → ich mache, du machst, er/sie macht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95728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95728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lernen → ich lerne, du lernst, er/sie lernt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36976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36976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leben → ich lebe, du lebst, er/sie lebt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078224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078224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fahren → ich fahre, du fährst, er/sie fährt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919472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919472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sammeln → ich sammle, du sammelst, er/sie sammelt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76072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76072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The verb stem generally stays while the ending changes with the subject.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5715000"/>
            <a:ext cx="1645920" cy="207264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09760" y="5922264"/>
            <a:ext cx="1645920" cy="207264"/>
          </a:xfrm>
          <a:prstGeom prst="rect">
            <a:avLst/>
          </a:prstGeom>
          <a:solidFill>
            <a:srgbClr val="D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6129528"/>
            <a:ext cx="1645920" cy="207264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72D572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5F7F4"/>
                </a:solidFill>
                <a:latin typeface="Aptos"/>
              </a:rPr>
              <a:t>♻️ + 🚆 + 🌱 = A Sustainable Lifestyle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1143000"/>
            <a:ext cx="594360" cy="54864"/>
          </a:xfrm>
          <a:prstGeom prst="rect">
            <a:avLst/>
          </a:prstGeom>
          <a:solidFill>
            <a:srgbClr val="72D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55448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2D572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Sort waste 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95728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2D572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95728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Reuse and repair products.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36976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2D572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36976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Choose public transport, walking or cycling when practical.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078224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2D572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078224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Save energy and avoid unnecessary consumption.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919472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2D572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919472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Learn how language and culture can make environmental ideas more engaging.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5715000"/>
            <a:ext cx="1645920" cy="207264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09760" y="5922264"/>
            <a:ext cx="1645920" cy="207264"/>
          </a:xfrm>
          <a:prstGeom prst="rect">
            <a:avLst/>
          </a:prstGeom>
          <a:solidFill>
            <a:srgbClr val="D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0" y="6129528"/>
            <a:ext cx="1645920" cy="207264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CE00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5F7F4"/>
                </a:solidFill>
                <a:latin typeface="Aptos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1143000"/>
            <a:ext cx="594360" cy="54864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55448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Green living is built from many small choices.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95728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95728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Germany offers useful examples of recycling systems, public transport and sustainability practices.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36976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36976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The most important idea is not perfection — it is making better choices consistently.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078224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CE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078224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F7F4"/>
                </a:solidFill>
                <a:latin typeface="Aptos"/>
              </a:rPr>
              <a:t>Nachhaltigkeit beginnt im Alltag. — Sustainability begins in everyday life.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5715000"/>
            <a:ext cx="1645920" cy="207264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5922264"/>
            <a:ext cx="1645920" cy="207264"/>
          </a:xfrm>
          <a:prstGeom prst="rect">
            <a:avLst/>
          </a:prstGeom>
          <a:solidFill>
            <a:srgbClr val="D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9760" y="6129528"/>
            <a:ext cx="1645920" cy="207264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983480" y="640080"/>
            <a:ext cx="2194560" cy="27432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83480" y="914400"/>
            <a:ext cx="2194560" cy="274320"/>
          </a:xfrm>
          <a:prstGeom prst="rect">
            <a:avLst/>
          </a:prstGeom>
          <a:solidFill>
            <a:srgbClr val="D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83480" y="1188719"/>
            <a:ext cx="2194560" cy="274320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F5F7F4"/>
                </a:solidFill>
                <a:latin typeface="Aptos"/>
              </a:rPr>
              <a:t>Danke! 🇩🇪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6324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0">
                <a:solidFill>
                  <a:srgbClr val="AFB6B1"/>
                </a:solidFill>
                <a:latin typeface="Aptos"/>
              </a:rPr>
              <a:t>Thank you for listening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2336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72D572"/>
                </a:solidFill>
                <a:latin typeface="Aptos"/>
              </a:rPr>
              <a:t>Recycling • Public Transport • Sustainable Living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7150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FB6B1"/>
                </a:solidFill>
                <a:latin typeface="Aptos"/>
              </a:rPr>
              <a:t>Made by Himanshu Chauhan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